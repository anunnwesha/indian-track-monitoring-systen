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A751"/>
    <a:srgbClr val="9BBB59"/>
    <a:srgbClr val="39B0D4"/>
    <a:srgbClr val="727272"/>
    <a:srgbClr val="01000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0CEC79-9BAC-4BD7-A711-FA0D00BEACE1}" v="52" dt="2025-09-15T21:25:18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ww.sciencedirect.com/science/article/abs/pii/S2452414X2400015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tellistride.com/blog/rfid-in-railway/" TargetMode="External"/><Relationship Id="rId5" Type="http://schemas.openxmlformats.org/officeDocument/2006/relationships/hyperlink" Target="https://www.hackster.io/silicioslab/esp32-mpu6050-monitor-ece4f5" TargetMode="External"/><Relationship Id="rId4" Type="http://schemas.openxmlformats.org/officeDocument/2006/relationships/hyperlink" Target="https://www.iricen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5278" y="1494772"/>
            <a:ext cx="5924550" cy="5240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25020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b="1" dirty="0"/>
              <a:t>Development of indigenous contactless Integrated Track Monitoring Systems (ITMS) for Track Recording on Indian Railways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/>
              <a:t>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ID: 83795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Name: - LOCO RUNNERS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833036" y="-27103"/>
            <a:ext cx="6525927" cy="1509379"/>
          </a:xfrm>
        </p:spPr>
        <p:txBody>
          <a:bodyPr/>
          <a:lstStyle/>
          <a:p>
            <a:pPr eaLnBrk="1" hangingPunct="1"/>
            <a:b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  <a:r>
              <a:rPr lang="en-US" sz="24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: </a:t>
            </a:r>
            <a:r>
              <a:rPr lang="en-IN" sz="2400" b="1" u="sng" dirty="0"/>
              <a:t>Indigenous Smart Track Monitoring System for Indian Railways</a:t>
            </a:r>
            <a:br>
              <a:rPr lang="en-IN" sz="2400" dirty="0"/>
            </a:br>
            <a:endParaRPr lang="en-US" sz="24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40267" y="1199924"/>
            <a:ext cx="11710219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2000" dirty="0"/>
              <a:t>Indian Railways still depends on costly imported Track Recording Cars (TRCs) and manual inspections, which are expensive, rigid, and lack proper traceability of track components.</a:t>
            </a:r>
            <a:br>
              <a:rPr lang="en-US" sz="2000" dirty="0"/>
            </a:br>
            <a:r>
              <a:rPr lang="en-US" sz="2000" dirty="0"/>
              <a:t>Our idea is a </a:t>
            </a:r>
            <a:r>
              <a:rPr lang="en-US" sz="2000" b="1" dirty="0"/>
              <a:t>low-cost, indigenous, GPS-independent Integrated Track Monitoring System (ITMS)</a:t>
            </a:r>
            <a:r>
              <a:rPr lang="en-US" sz="2000" dirty="0"/>
              <a:t> that ensures: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Continuous and contactless monitoring of track health.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Unique identification and lifecycle traceability of each sleeper and fitting.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Automated fault detection with proactive accident prevention.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Scalability, modular design, and weather-resilient operation at a fraction of TRC cost.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57097"/>
            <a:ext cx="2641015" cy="67049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LOCO RUNNERS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4974A7-16C5-4B8A-2440-896FE5531F83}"/>
              </a:ext>
            </a:extLst>
          </p:cNvPr>
          <p:cNvSpPr txBox="1"/>
          <p:nvPr/>
        </p:nvSpPr>
        <p:spPr>
          <a:xfrm>
            <a:off x="367145" y="3454973"/>
            <a:ext cx="5188154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Hardware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Prototype TRC</a:t>
            </a:r>
            <a:r>
              <a:rPr lang="en-IN" dirty="0"/>
              <a:t> built using </a:t>
            </a:r>
            <a:r>
              <a:rPr lang="en-IN" b="1" dirty="0"/>
              <a:t>ESP32-CAM</a:t>
            </a:r>
            <a:r>
              <a:rPr lang="en-IN" dirty="0"/>
              <a:t> and </a:t>
            </a:r>
            <a:r>
              <a:rPr lang="en-IN" b="1" dirty="0"/>
              <a:t>MPU6050 sensors</a:t>
            </a:r>
            <a:r>
              <a:rPr lang="en-IN" dirty="0"/>
              <a:t> to capture vibration and ride-quality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Each sleeper/fitting identified using </a:t>
            </a:r>
            <a:r>
              <a:rPr lang="en-IN" b="1" dirty="0"/>
              <a:t>RFID/UHF tags</a:t>
            </a:r>
            <a:r>
              <a:rPr lang="en-IN" dirty="0"/>
              <a:t> or a </a:t>
            </a:r>
            <a:r>
              <a:rPr lang="en-IN" b="1" dirty="0"/>
              <a:t>frequency/resonance-based prototype</a:t>
            </a:r>
            <a:r>
              <a:rPr lang="en-IN" dirty="0"/>
              <a:t> (modified version) for precise mapping and traceability.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Object detection module</a:t>
            </a:r>
            <a:r>
              <a:rPr lang="en-IN" dirty="0"/>
              <a:t> to sense obstacles (e.g., rocks in landslide zones) so that a pilot train can reverse automatically and prevent derailments.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Indian TRC can made withy low cost no needs to add unnecessary sensors.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AADC81-EF82-ABC9-F677-3D900CE3899B}"/>
              </a:ext>
            </a:extLst>
          </p:cNvPr>
          <p:cNvSpPr txBox="1"/>
          <p:nvPr/>
        </p:nvSpPr>
        <p:spPr>
          <a:xfrm>
            <a:off x="5997999" y="3593473"/>
            <a:ext cx="60960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009900"/>
                </a:solidFill>
              </a:rPr>
              <a:t>Software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Automatically data sent to </a:t>
            </a:r>
            <a:r>
              <a:rPr lang="en-IN" b="1" dirty="0"/>
              <a:t>central database</a:t>
            </a:r>
            <a:r>
              <a:rPr lang="en-IN" dirty="0"/>
              <a:t> for real-time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Detects </a:t>
            </a:r>
            <a:r>
              <a:rPr lang="en-IN" b="1" dirty="0"/>
              <a:t>sleeper-level faults</a:t>
            </a:r>
            <a:r>
              <a:rPr lang="en-IN" dirty="0"/>
              <a:t> with exact location &amp; fitting details, no need for GPS.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Abnormal vibration → frequency shift</a:t>
            </a:r>
            <a:r>
              <a:rPr lang="en-IN" dirty="0"/>
              <a:t>, resonance mapping gives sleeper info.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solves RFID issues (rain, weather) → ensures </a:t>
            </a:r>
            <a:r>
              <a:rPr lang="en-IN" b="1" dirty="0"/>
              <a:t>durable traceability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Automated, accurate, and supports </a:t>
            </a:r>
            <a:r>
              <a:rPr lang="en-IN" b="1" dirty="0"/>
              <a:t>early maintenance &amp; accident prevention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4663" y="188850"/>
            <a:ext cx="2348802" cy="73930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LOCO RUNNERS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217" y="155201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5AA614-D773-4A56-2929-CA352F6C1EC6}"/>
              </a:ext>
            </a:extLst>
          </p:cNvPr>
          <p:cNvSpPr txBox="1"/>
          <p:nvPr/>
        </p:nvSpPr>
        <p:spPr>
          <a:xfrm>
            <a:off x="3116864" y="5612690"/>
            <a:ext cx="97777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>
              <a:latin typeface="Century" panose="02040604050505020304" pitchFamily="18" charset="0"/>
            </a:endParaRPr>
          </a:p>
          <a:p>
            <a:pPr>
              <a:buNone/>
            </a:pPr>
            <a:r>
              <a:rPr lang="en-IN" b="1" dirty="0">
                <a:latin typeface="Century" panose="02040604050505020304" pitchFamily="18" charset="0"/>
              </a:rPr>
              <a:t>This layered approach ensures accurate, reliable, and fully indigenous monitoring, reducing reliance on foreign TRC systems while improving preventive maintenance.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B33F6C00-2209-B63D-DB82-C8254AF08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226" y="1704790"/>
            <a:ext cx="880241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Sensors &amp; Measurement: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ESP32-CAM + MPU6050 for vibration and ride quality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ID: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Laser/RFID/UHF tags on sleepers and data monitoring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Obstacle Detection: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Optical module for debris and obstacles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Acquisition: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High-speed sampling every 25 cm, 0–200 km/h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 Recording: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Rear-window synchronized visual validation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918ED-85B0-42F5-4C89-B6134E21FB9B}"/>
              </a:ext>
            </a:extLst>
          </p:cNvPr>
          <p:cNvSpPr txBox="1"/>
          <p:nvPr/>
        </p:nvSpPr>
        <p:spPr>
          <a:xfrm>
            <a:off x="532311" y="1181570"/>
            <a:ext cx="32872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>
                <a:solidFill>
                  <a:schemeClr val="tx2"/>
                </a:solidFill>
              </a:rPr>
              <a:t>Hardware Layer</a:t>
            </a:r>
            <a:r>
              <a:rPr lang="en-IN" sz="2800" b="1" dirty="0"/>
              <a:t>: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DCA436C5-816C-4FB1-7EEB-9F3C3CF09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3" y="4044631"/>
            <a:ext cx="837247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Onboard 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Noise filtering and track condition extraction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13848 Parts 1 &amp; 2, RDSO TM/IM/448:2023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Chainage-mapped outputs for visualization and fault traceability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Real-time, contactless monitoring with exportable, secure reports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C36FDE-6147-DFF7-5A9F-EF3F27044CED}"/>
              </a:ext>
            </a:extLst>
          </p:cNvPr>
          <p:cNvSpPr txBox="1"/>
          <p:nvPr/>
        </p:nvSpPr>
        <p:spPr>
          <a:xfrm>
            <a:off x="3949862" y="3521411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>
                <a:solidFill>
                  <a:schemeClr val="tx2"/>
                </a:solidFill>
              </a:rPr>
              <a:t>Software Layer: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DDE509-6662-4474-EEE5-8CFFDAF5B5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60"/>
          <a:stretch>
            <a:fillRect/>
          </a:stretch>
        </p:blipFill>
        <p:spPr>
          <a:xfrm>
            <a:off x="9183764" y="1278069"/>
            <a:ext cx="2916058" cy="24006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CDFE17-F4E7-761E-8353-DAF8EFBD8D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384" y="3212410"/>
            <a:ext cx="3019576" cy="15699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F13F46-E1BA-77D5-70B5-14ECB93811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73" t="55286" r="22800"/>
          <a:stretch>
            <a:fillRect/>
          </a:stretch>
        </p:blipFill>
        <p:spPr>
          <a:xfrm>
            <a:off x="320975" y="4783295"/>
            <a:ext cx="2567607" cy="19652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83754" y="1095375"/>
            <a:ext cx="8728166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800" b="1" dirty="0"/>
              <a:t>Feasibility:</a:t>
            </a:r>
            <a:r>
              <a:rPr lang="en-IN" sz="2800" dirty="0"/>
              <a:t> Low-cost hardware + open-source software; </a:t>
            </a:r>
          </a:p>
          <a:p>
            <a:r>
              <a:rPr lang="en-IN" sz="2800" dirty="0"/>
              <a:t>scalable, standards-compliant design.</a:t>
            </a:r>
          </a:p>
          <a:p>
            <a:endParaRPr lang="en-IN" sz="2800" dirty="0"/>
          </a:p>
          <a:p>
            <a:r>
              <a:rPr lang="en-IN" sz="2800" b="1" dirty="0"/>
              <a:t>Challenges:</a:t>
            </a:r>
            <a:r>
              <a:rPr lang="en-IN" sz="2800" dirty="0"/>
              <a:t> Harsh environment, large data, durability, </a:t>
            </a:r>
          </a:p>
          <a:p>
            <a:r>
              <a:rPr lang="en-IN" sz="2800" dirty="0" err="1"/>
              <a:t>integration,adoption</a:t>
            </a:r>
            <a:r>
              <a:rPr lang="en-IN" sz="2800" dirty="0"/>
              <a:t> resistance.</a:t>
            </a:r>
          </a:p>
          <a:p>
            <a:endParaRPr lang="en-IN" sz="2800" dirty="0"/>
          </a:p>
          <a:p>
            <a:r>
              <a:rPr lang="en-IN" sz="2800" b="1" dirty="0"/>
              <a:t>Strategies:</a:t>
            </a:r>
            <a:br>
              <a:rPr lang="en-IN" sz="2800" dirty="0"/>
            </a:br>
            <a:r>
              <a:rPr lang="en-IN" sz="2800" dirty="0"/>
              <a:t>✔ Sensor fusion for reliability</a:t>
            </a:r>
            <a:br>
              <a:rPr lang="en-IN" sz="2800" dirty="0"/>
            </a:br>
            <a:r>
              <a:rPr lang="en-IN" sz="2800" dirty="0"/>
              <a:t>✔ Edge computing to reduce data load</a:t>
            </a:r>
            <a:br>
              <a:rPr lang="en-IN" sz="2800" dirty="0"/>
            </a:br>
            <a:r>
              <a:rPr lang="en-IN" sz="2800" dirty="0"/>
              <a:t>✔ Ruggedized hardware for durability</a:t>
            </a:r>
            <a:br>
              <a:rPr lang="en-IN" sz="2800" dirty="0"/>
            </a:br>
            <a:r>
              <a:rPr lang="en-IN" sz="2800" dirty="0"/>
              <a:t>✔ Modular software design</a:t>
            </a:r>
            <a:br>
              <a:rPr lang="en-IN" sz="2800" dirty="0"/>
            </a:br>
            <a:r>
              <a:rPr lang="en-IN" sz="2800" dirty="0"/>
              <a:t>✔ Phased rollout &amp; training</a:t>
            </a:r>
          </a:p>
          <a:p>
            <a:endParaRPr lang="en-IN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6165646" y="6000654"/>
            <a:ext cx="4780280" cy="2901318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.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214864"/>
            <a:ext cx="261019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LOCO RUNNERS</a:t>
            </a:r>
            <a:endParaRPr lang="en-IN"/>
          </a:p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 descr="Lightbulb with solid fill">
            <a:extLst>
              <a:ext uri="{FF2B5EF4-FFF2-40B4-BE49-F238E27FC236}">
                <a16:creationId xmlns:a16="http://schemas.microsoft.com/office/drawing/2014/main" id="{38CD9770-4AB4-E3AB-835C-7EA3BF587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2720" y="1473200"/>
            <a:ext cx="7223760" cy="54545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5D424D-197D-EAD9-8DE2-27FFF73D834F}"/>
              </a:ext>
            </a:extLst>
          </p:cNvPr>
          <p:cNvSpPr txBox="1"/>
          <p:nvPr/>
        </p:nvSpPr>
        <p:spPr>
          <a:xfrm>
            <a:off x="8758453" y="2322367"/>
            <a:ext cx="27522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WE WILL MAKE IT RFID CUM RESONANCE BASED PROTOTYPE TO FACE ENVIROMENTAL CHALLANGES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5465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72380" y="214864"/>
            <a:ext cx="250137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LOCO RUNNERS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72C931-7D1B-6C51-3B72-3ADF00EC6CAE}"/>
              </a:ext>
            </a:extLst>
          </p:cNvPr>
          <p:cNvSpPr txBox="1"/>
          <p:nvPr/>
        </p:nvSpPr>
        <p:spPr>
          <a:xfrm>
            <a:off x="1578866" y="4320821"/>
            <a:ext cx="934266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u="sng" dirty="0">
                <a:solidFill>
                  <a:srgbClr val="0070C0"/>
                </a:solidFill>
              </a:rPr>
              <a:t>Benefits :</a:t>
            </a:r>
            <a:endParaRPr lang="en-US" sz="2400" u="sng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Affordable, real-time rail safety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Cuts inspection costs by over 90%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Automated fault &amp; obstacle detection, prevents derailments, enhances passenger safety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Ensures traceability of track components and </a:t>
            </a:r>
            <a:r>
              <a:rPr lang="en-IN" b="1" dirty="0"/>
              <a:t>track geometry measurement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Extends track and asset life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Promotes self-reliant Indian Railways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 tension for </a:t>
            </a:r>
            <a:r>
              <a:rPr lang="en-US" b="1" dirty="0" err="1"/>
              <a:t>wheater</a:t>
            </a:r>
            <a:r>
              <a:rPr lang="en-US" b="1" dirty="0"/>
              <a:t> </a:t>
            </a:r>
            <a:r>
              <a:rPr lang="en-US" b="1" dirty="0" err="1"/>
              <a:t>chalanges</a:t>
            </a:r>
            <a:endParaRPr lang="en-US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0EB195-4CE6-9F52-C7A7-307CC267D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22" y="1713871"/>
            <a:ext cx="562591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Indian Railways: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68,000+ km track with 1.3M+ sleepers/km; high reliance on costly imported TRCs creates demand for low-cost domestic solutions.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Railways: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1.3M+ route-km worldwide, growing need for automated monitoring.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Opportunity: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Large domestic and international market for affordable, scalable, modular track monitoring systems.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9D4B3F-C85E-749D-29C0-E6A54D6DB1A0}"/>
              </a:ext>
            </a:extLst>
          </p:cNvPr>
          <p:cNvSpPr txBox="1"/>
          <p:nvPr/>
        </p:nvSpPr>
        <p:spPr>
          <a:xfrm>
            <a:off x="-2622151" y="1173822"/>
            <a:ext cx="78476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solidFill>
                  <a:srgbClr val="FFA751"/>
                </a:solidFill>
              </a:rPr>
              <a:t>MARKET SIZE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3B6B4D5-14FF-C0E7-5AFC-87E78098C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18" y="1638920"/>
            <a:ext cx="587608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Imported TRCs: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₹15–20 Cr/unit, high maintenance, non-customizable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Inspection: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 initial cost, error-prone, high labor cost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ITMS: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Prototype &lt;₹10,000; full train deployment ₹2–3 L, modular, easy to maintain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&gt;95% cost savings, faster deployment, full traceability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5CC0CE2-7AD1-AFF8-C43F-13586A093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18" y="1041094"/>
            <a:ext cx="37278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COST COMPARISON</a:t>
            </a:r>
            <a:endParaRPr kumimoji="0" lang="en-US" altLang="en-US" sz="2800" b="0" i="0" u="sng" strike="noStrike" cap="none" normalizeH="0" baseline="0" dirty="0">
              <a:ln>
                <a:noFill/>
              </a:ln>
              <a:solidFill>
                <a:srgbClr val="0099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50890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288041"/>
            <a:ext cx="240185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LOCO RUNNERS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33225B-5C6E-FF23-EEA4-2D8E84E75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2440" y="2379552"/>
            <a:ext cx="1062727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Recording Cars (TRCs) in Indian Railways –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IRICE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Vibration &amp; ride-quality monitoring with MPU6050 –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Hackster.io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RFID/UHF tagging for track components –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Intellistride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Optical/obstacle detection in railways –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ScienceDirect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Indian Railways safety standards &amp; preventive maintenance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7651</TotalTime>
  <Words>774</Words>
  <Application>Microsoft Office PowerPoint</Application>
  <PresentationFormat>Widescreen</PresentationFormat>
  <Paragraphs>93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Century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TITLE: Indigenous Smart Track Monitoring System for Indian Railways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anwesha naskar</cp:lastModifiedBy>
  <cp:revision>149</cp:revision>
  <dcterms:created xsi:type="dcterms:W3CDTF">2013-12-12T18:46:50Z</dcterms:created>
  <dcterms:modified xsi:type="dcterms:W3CDTF">2025-09-28T18:42:50Z</dcterms:modified>
  <cp:category/>
</cp:coreProperties>
</file>